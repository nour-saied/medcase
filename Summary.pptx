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7"/>
    </p:embeddedFont>
    <p:embeddedFont>
      <p:font typeface="Canva Sans" charset="1" panose="020B0503030501040103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Transforming raw medical records into analyzable data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8415" y="7315048"/>
            <a:ext cx="5052161" cy="784420"/>
            <a:chOff x="0" y="0"/>
            <a:chExt cx="1330610" cy="206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0610" cy="206596"/>
            </a:xfrm>
            <a:custGeom>
              <a:avLst/>
              <a:gdLst/>
              <a:ahLst/>
              <a:cxnLst/>
              <a:rect r="r" b="b" t="t" l="l"/>
              <a:pathLst>
                <a:path h="206596" w="1330610">
                  <a:moveTo>
                    <a:pt x="0" y="0"/>
                  </a:moveTo>
                  <a:lnTo>
                    <a:pt x="1330610" y="0"/>
                  </a:lnTo>
                  <a:lnTo>
                    <a:pt x="1330610" y="206596"/>
                  </a:lnTo>
                  <a:lnTo>
                    <a:pt x="0" y="206596"/>
                  </a:lnTo>
                  <a:close/>
                </a:path>
              </a:pathLst>
            </a:custGeom>
            <a:solidFill>
              <a:srgbClr val="FF9D66"/>
            </a:solidFill>
            <a:ln w="19050" cap="sq">
              <a:solidFill>
                <a:srgbClr val="FFFEE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0610" cy="24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2011880" y="9046183"/>
            <a:ext cx="0" cy="434832"/>
          </a:xfrm>
          <a:prstGeom prst="line">
            <a:avLst/>
          </a:prstGeom>
          <a:ln cap="flat" w="19050">
            <a:gradFill>
              <a:gsLst>
                <a:gs pos="0">
                  <a:srgbClr val="FFFFFF">
                    <a:alpha val="19000"/>
                  </a:srgbClr>
                </a:gs>
                <a:gs pos="100000">
                  <a:srgbClr val="FFFFFF">
                    <a:alpha val="455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343682" y="306809"/>
            <a:ext cx="2611981" cy="1175391"/>
          </a:xfrm>
          <a:custGeom>
            <a:avLst/>
            <a:gdLst/>
            <a:ahLst/>
            <a:cxnLst/>
            <a:rect r="r" b="b" t="t" l="l"/>
            <a:pathLst>
              <a:path h="1175391" w="2611981">
                <a:moveTo>
                  <a:pt x="0" y="0"/>
                </a:moveTo>
                <a:lnTo>
                  <a:pt x="2611981" y="0"/>
                </a:lnTo>
                <a:lnTo>
                  <a:pt x="2611981" y="1175392"/>
                </a:lnTo>
                <a:lnTo>
                  <a:pt x="0" y="1175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65364">
            <a:off x="14370269" y="5201697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591444" y="7306308"/>
            <a:ext cx="5052161" cy="784420"/>
            <a:chOff x="0" y="0"/>
            <a:chExt cx="1330610" cy="206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0610" cy="206596"/>
            </a:xfrm>
            <a:custGeom>
              <a:avLst/>
              <a:gdLst/>
              <a:ahLst/>
              <a:cxnLst/>
              <a:rect r="r" b="b" t="t" l="l"/>
              <a:pathLst>
                <a:path h="206596" w="1330610">
                  <a:moveTo>
                    <a:pt x="0" y="0"/>
                  </a:moveTo>
                  <a:lnTo>
                    <a:pt x="1330610" y="0"/>
                  </a:lnTo>
                  <a:lnTo>
                    <a:pt x="1330610" y="206596"/>
                  </a:lnTo>
                  <a:lnTo>
                    <a:pt x="0" y="206596"/>
                  </a:lnTo>
                  <a:close/>
                </a:path>
              </a:pathLst>
            </a:custGeom>
            <a:solidFill>
              <a:srgbClr val="FF9D66"/>
            </a:solidFill>
            <a:ln w="19050" cap="sq">
              <a:solidFill>
                <a:srgbClr val="FFFEE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0610" cy="24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482202" y="5202276"/>
            <a:ext cx="3611634" cy="1742082"/>
          </a:xfrm>
          <a:custGeom>
            <a:avLst/>
            <a:gdLst/>
            <a:ahLst/>
            <a:cxnLst/>
            <a:rect r="r" b="b" t="t" l="l"/>
            <a:pathLst>
              <a:path h="1742082" w="3611634">
                <a:moveTo>
                  <a:pt x="0" y="0"/>
                </a:moveTo>
                <a:lnTo>
                  <a:pt x="3611634" y="0"/>
                </a:lnTo>
                <a:lnTo>
                  <a:pt x="3611634" y="1742082"/>
                </a:lnTo>
                <a:lnTo>
                  <a:pt x="0" y="1742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97156" y="2087885"/>
            <a:ext cx="11581726" cy="209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-3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MEDICAL XML DOCUMENTS TO DATA WAREHOUSE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386139">
            <a:off x="-906819" y="-26068"/>
            <a:ext cx="3871038" cy="3871038"/>
          </a:xfrm>
          <a:custGeom>
            <a:avLst/>
            <a:gdLst/>
            <a:ahLst/>
            <a:cxnLst/>
            <a:rect r="r" b="b" t="t" l="l"/>
            <a:pathLst>
              <a:path h="3871038" w="3871038">
                <a:moveTo>
                  <a:pt x="0" y="0"/>
                </a:moveTo>
                <a:lnTo>
                  <a:pt x="3871038" y="0"/>
                </a:lnTo>
                <a:lnTo>
                  <a:pt x="3871038" y="3871038"/>
                </a:lnTo>
                <a:lnTo>
                  <a:pt x="0" y="3871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49011" y="8548794"/>
            <a:ext cx="530366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9"/>
              </a:lnSpc>
            </a:pPr>
            <a:r>
              <a:rPr lang="en-US" b="true" sz="2699" spc="-17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Hana Mhiri &amp; Nourelhouda Saied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61609" y="9798209"/>
            <a:ext cx="1638138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b="true" sz="2400" spc="-15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26/11/2025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17750" y="7537410"/>
            <a:ext cx="5092826" cy="38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4"/>
              </a:lnSpc>
            </a:pPr>
            <a:r>
              <a:rPr lang="en-US" b="true" sz="3215" spc="-202">
                <a:solidFill>
                  <a:srgbClr val="2222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91368" y="8528878"/>
            <a:ext cx="445231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9"/>
              </a:lnSpc>
            </a:pPr>
            <a:r>
              <a:rPr lang="en-US" b="true" sz="2699" spc="-17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Ms Ines Ben Massoued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0780" y="7537410"/>
            <a:ext cx="5092826" cy="38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4"/>
              </a:lnSpc>
            </a:pPr>
            <a:r>
              <a:rPr lang="en-US" b="true" sz="3215" spc="-202">
                <a:solidFill>
                  <a:srgbClr val="2222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Supervised By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83929" y="4802505"/>
            <a:ext cx="920818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9"/>
              </a:lnSpc>
            </a:pPr>
            <a:r>
              <a:rPr lang="en-US" b="true" sz="2699" spc="-17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Transforming raw medical records into analyzable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2240" y="1314712"/>
            <a:ext cx="9994578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000" spc="-50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1) Project Overview</a:t>
            </a:r>
          </a:p>
          <a:p>
            <a:pPr algn="l" marL="0" indent="0" lvl="0">
              <a:lnSpc>
                <a:spcPts val="81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07192" y="3991899"/>
            <a:ext cx="12858149" cy="206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619" spc="-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Ove</a:t>
            </a:r>
            <a:r>
              <a:rPr lang="en-US" b="true" sz="2619" spc="-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1,500 XML medical documents of a Hospital.</a:t>
            </a:r>
          </a:p>
          <a:p>
            <a:pPr algn="l">
              <a:lnSpc>
                <a:spcPts val="3274"/>
              </a:lnSpc>
            </a:pPr>
          </a:p>
          <a:p>
            <a:pPr algn="l">
              <a:lnSpc>
                <a:spcPts val="3274"/>
              </a:lnSpc>
            </a:pPr>
          </a:p>
          <a:p>
            <a:pPr algn="l">
              <a:lnSpc>
                <a:spcPts val="3274"/>
              </a:lnSpc>
            </a:pPr>
          </a:p>
          <a:p>
            <a:pPr algn="l">
              <a:lnSpc>
                <a:spcPts val="3274"/>
              </a:lnSpc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8836266" y="2587252"/>
            <a:ext cx="9525" cy="1503772"/>
          </a:xfrm>
          <a:prstGeom prst="line">
            <a:avLst/>
          </a:prstGeom>
          <a:ln cap="flat" w="19050">
            <a:gradFill>
              <a:gsLst>
                <a:gs pos="0">
                  <a:srgbClr val="FFFFFF">
                    <a:alpha val="19000"/>
                  </a:srgbClr>
                </a:gs>
                <a:gs pos="100000">
                  <a:srgbClr val="FFFFFF">
                    <a:alpha val="455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386139">
            <a:off x="15046772" y="-1024789"/>
            <a:ext cx="5562329" cy="5562329"/>
          </a:xfrm>
          <a:custGeom>
            <a:avLst/>
            <a:gdLst/>
            <a:ahLst/>
            <a:cxnLst/>
            <a:rect r="r" b="b" t="t" l="l"/>
            <a:pathLst>
              <a:path h="5562329" w="5562329">
                <a:moveTo>
                  <a:pt x="0" y="0"/>
                </a:moveTo>
                <a:lnTo>
                  <a:pt x="5562329" y="0"/>
                </a:lnTo>
                <a:lnTo>
                  <a:pt x="5562329" y="5562329"/>
                </a:lnTo>
                <a:lnTo>
                  <a:pt x="0" y="5562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18114">
            <a:off x="1731796" y="6908592"/>
            <a:ext cx="1198724" cy="1144236"/>
          </a:xfrm>
          <a:custGeom>
            <a:avLst/>
            <a:gdLst/>
            <a:ahLst/>
            <a:cxnLst/>
            <a:rect r="r" b="b" t="t" l="l"/>
            <a:pathLst>
              <a:path h="1144236" w="1198724">
                <a:moveTo>
                  <a:pt x="0" y="0"/>
                </a:moveTo>
                <a:lnTo>
                  <a:pt x="1198724" y="0"/>
                </a:lnTo>
                <a:lnTo>
                  <a:pt x="1198724" y="1144236"/>
                </a:lnTo>
                <a:lnTo>
                  <a:pt x="0" y="1144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6182" y="3046039"/>
            <a:ext cx="5521889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09" lvl="1">
              <a:lnSpc>
                <a:spcPts val="4749"/>
              </a:lnSpc>
              <a:buFont typeface="Arial"/>
              <a:buChar char="•"/>
            </a:pPr>
            <a:r>
              <a:rPr lang="en-US" b="true" sz="3799" spc="-4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7603" y="4709786"/>
            <a:ext cx="2717063" cy="219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375"/>
              </a:lnSpc>
              <a:buFont typeface="Arial"/>
              <a:buChar char="•"/>
            </a:pPr>
            <a:r>
              <a:rPr lang="en-US" b="true" sz="3500" spc="-4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Output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07192" y="5548639"/>
            <a:ext cx="12858149" cy="124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b="true" sz="2619" spc="-3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Robust, query-ready data warehouse</a:t>
            </a:r>
          </a:p>
          <a:p>
            <a:pPr algn="l">
              <a:lnSpc>
                <a:spcPts val="3274"/>
              </a:lnSpc>
            </a:pPr>
          </a:p>
          <a:p>
            <a:pPr algn="l">
              <a:lnSpc>
                <a:spcPts val="327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3036134" y="7068811"/>
            <a:ext cx="12907999" cy="1095873"/>
            <a:chOff x="0" y="0"/>
            <a:chExt cx="3399638" cy="2886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99637" cy="288625"/>
            </a:xfrm>
            <a:custGeom>
              <a:avLst/>
              <a:gdLst/>
              <a:ahLst/>
              <a:cxnLst/>
              <a:rect r="r" b="b" t="t" l="l"/>
              <a:pathLst>
                <a:path h="288625" w="3399637">
                  <a:moveTo>
                    <a:pt x="10196" y="0"/>
                  </a:moveTo>
                  <a:lnTo>
                    <a:pt x="3389441" y="0"/>
                  </a:lnTo>
                  <a:cubicBezTo>
                    <a:pt x="3395073" y="0"/>
                    <a:pt x="3399637" y="4565"/>
                    <a:pt x="3399637" y="10196"/>
                  </a:cubicBezTo>
                  <a:lnTo>
                    <a:pt x="3399637" y="278429"/>
                  </a:lnTo>
                  <a:cubicBezTo>
                    <a:pt x="3399637" y="284060"/>
                    <a:pt x="3395073" y="288625"/>
                    <a:pt x="3389441" y="288625"/>
                  </a:cubicBezTo>
                  <a:lnTo>
                    <a:pt x="10196" y="288625"/>
                  </a:lnTo>
                  <a:cubicBezTo>
                    <a:pt x="7492" y="288625"/>
                    <a:pt x="4899" y="287551"/>
                    <a:pt x="2986" y="285639"/>
                  </a:cubicBezTo>
                  <a:cubicBezTo>
                    <a:pt x="1074" y="283726"/>
                    <a:pt x="0" y="281133"/>
                    <a:pt x="0" y="278429"/>
                  </a:cubicBezTo>
                  <a:lnTo>
                    <a:pt x="0" y="10196"/>
                  </a:lnTo>
                  <a:cubicBezTo>
                    <a:pt x="0" y="7492"/>
                    <a:pt x="1074" y="4899"/>
                    <a:pt x="2986" y="2986"/>
                  </a:cubicBezTo>
                  <a:cubicBezTo>
                    <a:pt x="4899" y="1074"/>
                    <a:pt x="7492" y="0"/>
                    <a:pt x="10196" y="0"/>
                  </a:cubicBezTo>
                  <a:close/>
                </a:path>
              </a:pathLst>
            </a:custGeom>
            <a:solidFill>
              <a:srgbClr val="FFD4B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399638" cy="307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4"/>
                </a:lnSpc>
              </a:pPr>
              <a:r>
                <a:rPr lang="en-US" b="true" sz="2619" spc="-3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Goal: Enable reliable analysis and reporting from complex medical records.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3658" y="4293277"/>
            <a:ext cx="1831396" cy="1889394"/>
          </a:xfrm>
          <a:custGeom>
            <a:avLst/>
            <a:gdLst/>
            <a:ahLst/>
            <a:cxnLst/>
            <a:rect r="r" b="b" t="t" l="l"/>
            <a:pathLst>
              <a:path h="1889394" w="1831396">
                <a:moveTo>
                  <a:pt x="0" y="0"/>
                </a:moveTo>
                <a:lnTo>
                  <a:pt x="1831396" y="0"/>
                </a:lnTo>
                <a:lnTo>
                  <a:pt x="1831396" y="1889394"/>
                </a:lnTo>
                <a:lnTo>
                  <a:pt x="0" y="188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3" t="0" r="-15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984" y="5931587"/>
            <a:ext cx="1831396" cy="1889394"/>
          </a:xfrm>
          <a:custGeom>
            <a:avLst/>
            <a:gdLst/>
            <a:ahLst/>
            <a:cxnLst/>
            <a:rect r="r" b="b" t="t" l="l"/>
            <a:pathLst>
              <a:path h="1889394" w="1831396">
                <a:moveTo>
                  <a:pt x="0" y="0"/>
                </a:moveTo>
                <a:lnTo>
                  <a:pt x="1831397" y="0"/>
                </a:lnTo>
                <a:lnTo>
                  <a:pt x="1831397" y="1889394"/>
                </a:lnTo>
                <a:lnTo>
                  <a:pt x="0" y="188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3" t="0" r="-158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3183" y="7675101"/>
            <a:ext cx="1779000" cy="1835338"/>
          </a:xfrm>
          <a:custGeom>
            <a:avLst/>
            <a:gdLst/>
            <a:ahLst/>
            <a:cxnLst/>
            <a:rect r="r" b="b" t="t" l="l"/>
            <a:pathLst>
              <a:path h="1835338" w="1779000">
                <a:moveTo>
                  <a:pt x="0" y="0"/>
                </a:moveTo>
                <a:lnTo>
                  <a:pt x="1778999" y="0"/>
                </a:lnTo>
                <a:lnTo>
                  <a:pt x="1778999" y="1835338"/>
                </a:lnTo>
                <a:lnTo>
                  <a:pt x="0" y="1835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3" t="0" r="-158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92363" y="5794378"/>
            <a:ext cx="1864449" cy="2062290"/>
          </a:xfrm>
          <a:custGeom>
            <a:avLst/>
            <a:gdLst/>
            <a:ahLst/>
            <a:cxnLst/>
            <a:rect r="r" b="b" t="t" l="l"/>
            <a:pathLst>
              <a:path h="2062290" w="1864449">
                <a:moveTo>
                  <a:pt x="0" y="0"/>
                </a:moveTo>
                <a:lnTo>
                  <a:pt x="1864449" y="0"/>
                </a:lnTo>
                <a:lnTo>
                  <a:pt x="1864449" y="2062290"/>
                </a:lnTo>
                <a:lnTo>
                  <a:pt x="0" y="2062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598" t="-35138" r="-67328" b="-202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96934" y="5893806"/>
            <a:ext cx="3004082" cy="1743310"/>
          </a:xfrm>
          <a:custGeom>
            <a:avLst/>
            <a:gdLst/>
            <a:ahLst/>
            <a:cxnLst/>
            <a:rect r="r" b="b" t="t" l="l"/>
            <a:pathLst>
              <a:path h="1743310" w="3004082">
                <a:moveTo>
                  <a:pt x="0" y="0"/>
                </a:moveTo>
                <a:lnTo>
                  <a:pt x="3004082" y="0"/>
                </a:lnTo>
                <a:lnTo>
                  <a:pt x="3004082" y="1743310"/>
                </a:lnTo>
                <a:lnTo>
                  <a:pt x="0" y="1743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3" t="0" r="-158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44476" y="5872395"/>
            <a:ext cx="1979272" cy="1906255"/>
          </a:xfrm>
          <a:custGeom>
            <a:avLst/>
            <a:gdLst/>
            <a:ahLst/>
            <a:cxnLst/>
            <a:rect r="r" b="b" t="t" l="l"/>
            <a:pathLst>
              <a:path h="1906255" w="1979272">
                <a:moveTo>
                  <a:pt x="0" y="0"/>
                </a:moveTo>
                <a:lnTo>
                  <a:pt x="1979272" y="0"/>
                </a:lnTo>
                <a:lnTo>
                  <a:pt x="1979272" y="1906255"/>
                </a:lnTo>
                <a:lnTo>
                  <a:pt x="0" y="1906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67" t="-5737" r="-3124" b="-12846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118488" y="5237974"/>
            <a:ext cx="1276794" cy="741853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3018381" y="6825523"/>
            <a:ext cx="1376900" cy="23281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V="true">
            <a:off x="2965984" y="7722726"/>
            <a:ext cx="1455496" cy="791335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V="true">
            <a:off x="13568919" y="6753821"/>
            <a:ext cx="1072072" cy="11640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3198425"/>
            <a:ext cx="2565832" cy="886787"/>
            <a:chOff x="0" y="0"/>
            <a:chExt cx="675775" cy="2335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5775" cy="233557"/>
            </a:xfrm>
            <a:custGeom>
              <a:avLst/>
              <a:gdLst/>
              <a:ahLst/>
              <a:cxnLst/>
              <a:rect r="r" b="b" t="t" l="l"/>
              <a:pathLst>
                <a:path h="233557" w="675775">
                  <a:moveTo>
                    <a:pt x="0" y="0"/>
                  </a:moveTo>
                  <a:lnTo>
                    <a:pt x="675775" y="0"/>
                  </a:lnTo>
                  <a:lnTo>
                    <a:pt x="675775" y="233557"/>
                  </a:lnTo>
                  <a:lnTo>
                    <a:pt x="0" y="233557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75775" cy="27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XML Documents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29847" y="3198425"/>
            <a:ext cx="2589481" cy="886787"/>
            <a:chOff x="0" y="0"/>
            <a:chExt cx="682003" cy="2335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003" cy="233557"/>
            </a:xfrm>
            <a:custGeom>
              <a:avLst/>
              <a:gdLst/>
              <a:ahLst/>
              <a:cxnLst/>
              <a:rect r="r" b="b" t="t" l="l"/>
              <a:pathLst>
                <a:path h="233557" w="682003">
                  <a:moveTo>
                    <a:pt x="0" y="0"/>
                  </a:moveTo>
                  <a:lnTo>
                    <a:pt x="682003" y="0"/>
                  </a:lnTo>
                  <a:lnTo>
                    <a:pt x="682003" y="233557"/>
                  </a:lnTo>
                  <a:lnTo>
                    <a:pt x="0" y="233557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2003" cy="27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EDA &amp; Preprocessing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54643" y="3198425"/>
            <a:ext cx="2589481" cy="886787"/>
            <a:chOff x="0" y="0"/>
            <a:chExt cx="682003" cy="2335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003" cy="233557"/>
            </a:xfrm>
            <a:custGeom>
              <a:avLst/>
              <a:gdLst/>
              <a:ahLst/>
              <a:cxnLst/>
              <a:rect r="r" b="b" t="t" l="l"/>
              <a:pathLst>
                <a:path h="233557" w="682003">
                  <a:moveTo>
                    <a:pt x="0" y="0"/>
                  </a:moveTo>
                  <a:lnTo>
                    <a:pt x="682003" y="0"/>
                  </a:lnTo>
                  <a:lnTo>
                    <a:pt x="682003" y="233557"/>
                  </a:lnTo>
                  <a:lnTo>
                    <a:pt x="0" y="233557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2003" cy="27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Modeling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9439" y="3198425"/>
            <a:ext cx="2589481" cy="886787"/>
            <a:chOff x="0" y="0"/>
            <a:chExt cx="682003" cy="2335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003" cy="233557"/>
            </a:xfrm>
            <a:custGeom>
              <a:avLst/>
              <a:gdLst/>
              <a:ahLst/>
              <a:cxnLst/>
              <a:rect r="r" b="b" t="t" l="l"/>
              <a:pathLst>
                <a:path h="233557" w="682003">
                  <a:moveTo>
                    <a:pt x="0" y="0"/>
                  </a:moveTo>
                  <a:lnTo>
                    <a:pt x="682003" y="0"/>
                  </a:lnTo>
                  <a:lnTo>
                    <a:pt x="682003" y="233557"/>
                  </a:lnTo>
                  <a:lnTo>
                    <a:pt x="0" y="233557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2003" cy="27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loading &amp; Model Implementation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304234" y="3198425"/>
            <a:ext cx="2589481" cy="886787"/>
            <a:chOff x="0" y="0"/>
            <a:chExt cx="682003" cy="2335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003" cy="233557"/>
            </a:xfrm>
            <a:custGeom>
              <a:avLst/>
              <a:gdLst/>
              <a:ahLst/>
              <a:cxnLst/>
              <a:rect r="r" b="b" t="t" l="l"/>
              <a:pathLst>
                <a:path h="233557" w="682003">
                  <a:moveTo>
                    <a:pt x="0" y="0"/>
                  </a:moveTo>
                  <a:lnTo>
                    <a:pt x="682003" y="0"/>
                  </a:lnTo>
                  <a:lnTo>
                    <a:pt x="682003" y="233557"/>
                  </a:lnTo>
                  <a:lnTo>
                    <a:pt x="0" y="233557"/>
                  </a:lnTo>
                  <a:close/>
                </a:path>
              </a:pathLst>
            </a:custGeom>
            <a:solidFill>
              <a:srgbClr val="00808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2003" cy="27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Reporting &amp; Visualization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127498" y="6058380"/>
            <a:ext cx="1643771" cy="1414162"/>
          </a:xfrm>
          <a:custGeom>
            <a:avLst/>
            <a:gdLst/>
            <a:ahLst/>
            <a:cxnLst/>
            <a:rect r="r" b="b" t="t" l="l"/>
            <a:pathLst>
              <a:path h="1414162" w="1643771">
                <a:moveTo>
                  <a:pt x="0" y="0"/>
                </a:moveTo>
                <a:lnTo>
                  <a:pt x="1643771" y="0"/>
                </a:lnTo>
                <a:lnTo>
                  <a:pt x="1643771" y="1414162"/>
                </a:lnTo>
                <a:lnTo>
                  <a:pt x="0" y="1414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008" t="-17227" r="-59323" b="-17227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62240" y="1343287"/>
            <a:ext cx="99945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2) Pipeline Diagram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9971836" y="6734772"/>
            <a:ext cx="1072072" cy="11640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 flipV="true">
            <a:off x="6595392" y="6810178"/>
            <a:ext cx="1072072" cy="11640"/>
          </a:xfrm>
          <a:prstGeom prst="line">
            <a:avLst/>
          </a:prstGeom>
          <a:ln cap="flat" w="38100">
            <a:solidFill>
              <a:srgbClr val="22222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2240" y="1343287"/>
            <a:ext cx="1162632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3) EDA &amp;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222" y="2817349"/>
            <a:ext cx="16694078" cy="6801739"/>
          </a:xfrm>
          <a:custGeom>
            <a:avLst/>
            <a:gdLst/>
            <a:ahLst/>
            <a:cxnLst/>
            <a:rect r="r" b="b" t="t" l="l"/>
            <a:pathLst>
              <a:path h="6801739" w="16694078">
                <a:moveTo>
                  <a:pt x="0" y="0"/>
                </a:moveTo>
                <a:lnTo>
                  <a:pt x="16694078" y="0"/>
                </a:lnTo>
                <a:lnTo>
                  <a:pt x="16694078" y="6801739"/>
                </a:lnTo>
                <a:lnTo>
                  <a:pt x="0" y="6801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1" t="-1929" r="0" b="-3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2240" y="1343287"/>
            <a:ext cx="1162632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4) Data Modeling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621" y="4097057"/>
            <a:ext cx="8115074" cy="4595161"/>
          </a:xfrm>
          <a:custGeom>
            <a:avLst/>
            <a:gdLst/>
            <a:ahLst/>
            <a:cxnLst/>
            <a:rect r="r" b="b" t="t" l="l"/>
            <a:pathLst>
              <a:path h="4595161" w="8115074">
                <a:moveTo>
                  <a:pt x="0" y="0"/>
                </a:moveTo>
                <a:lnTo>
                  <a:pt x="8115073" y="0"/>
                </a:lnTo>
                <a:lnTo>
                  <a:pt x="8115073" y="4595161"/>
                </a:lnTo>
                <a:lnTo>
                  <a:pt x="0" y="4595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5627" y="4097057"/>
            <a:ext cx="8187368" cy="4595161"/>
          </a:xfrm>
          <a:custGeom>
            <a:avLst/>
            <a:gdLst/>
            <a:ahLst/>
            <a:cxnLst/>
            <a:rect r="r" b="b" t="t" l="l"/>
            <a:pathLst>
              <a:path h="4595161" w="8187368">
                <a:moveTo>
                  <a:pt x="0" y="0"/>
                </a:moveTo>
                <a:lnTo>
                  <a:pt x="8187368" y="0"/>
                </a:lnTo>
                <a:lnTo>
                  <a:pt x="8187368" y="4595161"/>
                </a:lnTo>
                <a:lnTo>
                  <a:pt x="0" y="4595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2240" y="1343287"/>
            <a:ext cx="1420401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5) Reporting &amp; Visualization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4387" y="6717254"/>
            <a:ext cx="2739226" cy="2739226"/>
          </a:xfrm>
          <a:custGeom>
            <a:avLst/>
            <a:gdLst/>
            <a:ahLst/>
            <a:cxnLst/>
            <a:rect r="r" b="b" t="t" l="l"/>
            <a:pathLst>
              <a:path h="2739226" w="2739226">
                <a:moveTo>
                  <a:pt x="0" y="0"/>
                </a:moveTo>
                <a:lnTo>
                  <a:pt x="2739226" y="0"/>
                </a:lnTo>
                <a:lnTo>
                  <a:pt x="2739226" y="2739226"/>
                </a:lnTo>
                <a:lnTo>
                  <a:pt x="0" y="2739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2240" y="1343287"/>
            <a:ext cx="999457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6)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6109" y="4021367"/>
            <a:ext cx="15315782" cy="223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869" spc="-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transformed raw Casimage medical case data into a structured data warehouse by cleaning, normalizing, and extracting insights from textual fields. Dimension tables and a fact table were created to support analysis of disease patterns, severity trends, and organ involvement. This pipeline enables efficient, repeatable analytics and lays the groundwork for future modeling or reporting.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00525"/>
            <a:ext cx="1441443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Thanks for your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DAG4_fwyb68</dc:identifier>
  <dcterms:modified xsi:type="dcterms:W3CDTF">2011-08-01T06:04:30Z</dcterms:modified>
  <cp:revision>1</cp:revision>
  <dc:title>hana mhiri et Nourelhouda Saied</dc:title>
</cp:coreProperties>
</file>